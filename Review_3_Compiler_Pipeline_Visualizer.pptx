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09728" cy="411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Compiler Pipeline Visualizer</a:t>
            </a:r>
          </a:p>
          <a:p>
            <a:pPr>
              <a:spcBef>
                <a:spcPts val="1200"/>
              </a:spcBef>
              <a:defRPr sz="2200" b="1">
                <a:solidFill>
                  <a:srgbClr val="0EA5E9"/>
                </a:solidFill>
              </a:defRPr>
            </a:pPr>
            <a:r>
              <a:t>An Interactive Multi-Language Compiler Engine &amp; Execution Sandbox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657600"/>
            <a:ext cx="530352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Review 3 (Final Review)  |  Compiler Design  |  BCSE307P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5486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PRESENTED BY: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Ansuman Singh  (24BCE2013)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Sayan Giri  (24BCT0281)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011680"/>
            <a:ext cx="457200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REVIEW 3 CORE DELIVERABLES</a:t>
            </a:r>
          </a:p>
          <a:p>
            <a:pPr>
              <a:spcBef>
                <a:spcPts val="700"/>
              </a:spcBef>
              <a:defRPr sz="1100">
                <a:solidFill>
                  <a:srgbClr val="E2E8F0"/>
                </a:solidFill>
              </a:defRPr>
            </a:pPr>
            <a:r>
              <a:t>1. Large-Input Scaling: 5,000+ source lines compiled &amp; executed in &lt;200ms</a:t>
            </a:r>
          </a:p>
          <a:p>
            <a:pPr>
              <a:spcBef>
                <a:spcPts val="700"/>
              </a:spcBef>
              <a:defRPr sz="1100">
                <a:solidFill>
                  <a:srgbClr val="E2E8F0"/>
                </a:solidFill>
              </a:defRPr>
            </a:pPr>
            <a:r>
              <a:t>2. Multi-Language Frontends: C (C99), C++, Java, Python, JS, Toy Lang</a:t>
            </a:r>
          </a:p>
          <a:p>
            <a:pPr>
              <a:spcBef>
                <a:spcPts val="700"/>
              </a:spcBef>
              <a:defRPr sz="1100">
                <a:solidFill>
                  <a:srgbClr val="E2E8F0"/>
                </a:solidFill>
              </a:defRPr>
            </a:pPr>
            <a:r>
              <a:t>3. In-Memory Execution: Sandboxed TAC Virtual Machine &amp; Python Runner</a:t>
            </a:r>
          </a:p>
          <a:p>
            <a:pPr>
              <a:spcBef>
                <a:spcPts val="700"/>
              </a:spcBef>
              <a:defRPr sz="1100">
                <a:solidFill>
                  <a:srgbClr val="E2E8F0"/>
                </a:solidFill>
              </a:defRPr>
            </a:pPr>
            <a:r>
              <a:t>4. Source Workspace: Native File Upload (.c, .cpp, .java, .js, .py, .toy, .txt)</a:t>
            </a:r>
          </a:p>
          <a:p>
            <a:pPr>
              <a:spcBef>
                <a:spcPts val="700"/>
              </a:spcBef>
              <a:defRPr sz="1100">
                <a:solidFill>
                  <a:srgbClr val="E2E8F0"/>
                </a:solidFill>
              </a:defRPr>
            </a:pPr>
            <a:r>
              <a:t>5. Synchronized Gutter: Absolute line tracking &amp; Jump-to-Error navigation</a:t>
            </a:r>
          </a:p>
          <a:p>
            <a:pPr>
              <a:spcBef>
                <a:spcPts val="700"/>
              </a:spcBef>
              <a:defRPr sz="1100">
                <a:solidFill>
                  <a:srgbClr val="E2E8F0"/>
                </a:solidFill>
              </a:defRPr>
            </a:pPr>
            <a:r>
              <a:t>6. Dual Themes: WCAG AA compliant Night Mode (Dark Theme)</a:t>
            </a:r>
          </a:p>
          <a:p>
            <a:pPr>
              <a:spcBef>
                <a:spcPts val="700"/>
              </a:spcBef>
              <a:defRPr sz="1100">
                <a:solidFill>
                  <a:srgbClr val="E2E8F0"/>
                </a:solidFill>
              </a:defRPr>
            </a:pPr>
            <a:r>
              <a:t>7. Verification: 136 passing automated regression &amp; stress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PROJECT PROGRESSION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Evolution: From Review 2 to Final Review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9728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REVIEW 2 BASELINE (INITIAL STATE)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Single-Language Subset: Limited only to a small C subset (main, types, printf).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Small Program Capacity: Tested only on short snippets (~10 to 50 lines).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Static Pipeline Output: IR and assembly were generated, but code could NOT actually run.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Truncation &amp; Buffer Freezing: Large pastes were truncated to ~96 lines by clipboard buffers.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Line Number Gutter Clamping: Line numbers desynchronized and stayed stuck at lines 1..27.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Single Light Theme: Incomplete dark mode with unreadable white-on-pale AST nodes.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Baseline Test Suite: 17 basic unit tests covering single-language endpoints.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97880" y="3474720"/>
            <a:ext cx="365760" cy="36576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REVIEW 3 DELIVERABLES (COMPLETED)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6 Fully-Fledged Frontends: C, C++, Java, Python, JavaScript, and Toy Lang with isolated presets.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5,000+ Line Scalability: Document processing up to 5,000 lines in &lt;0.2s with 10k line limits.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Sandboxed Execution Engine: In-memory TAC VM (20k step budget) + safe Python runner.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Lossless Ingestion: Dedicated clipboard paste handler + multi-language source file upload.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Synchronized Viewport Gutter: Absolute tracking, dynamic digit widths, and Jump-to-Error sync.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WCAG AA Contrast Night Theme: Complete dark mode design tokens across all components.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136 Automated Tests: 100% passing rate across 6 stress and regression test suites.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Rev 3 Polyglot Compiler &amp; Execution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9728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b="1" sz="1200">
                <a:solidFill>
                  <a:srgbClr val="6366F1"/>
                </a:solidFill>
              </a:defRPr>
            </a:pPr>
            <a:r>
              <a:t>1. INGESTION LAYER (Large-File &amp; Polyglot Input)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Upload Source File (.c, .cpp, .java, .js, .py, .toy, .txt)  |  Lossless Clipboard Interceptor  |  Language-Isolated Example Presets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728655" cy="1005840"/>
          </a:xfrm>
          <a:prstGeom prst="roundRect">
            <a:avLst/>
          </a:prstGeom>
          <a:solidFill>
            <a:srgbClr val="F0F9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b="1" sz="1200">
                <a:solidFill>
                  <a:srgbClr val="0EA5E9"/>
                </a:solidFill>
              </a:defRPr>
            </a:pPr>
            <a:r>
              <a:t>2. PLUGGABLE FRONTEND LAYER (get_compiler(lang) Dispatcher)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 Compiler (C99 Subset)  |  C++ Compiler (Classes &amp; I/O)  |  Java Compiler (Main &amp; Methods)</a:t>
            </a:r>
            <a:br/>
            <a:r>
              <a:t>Python Compiler (Recursive ast.parse)  |  JavaScript Compiler (ES6 Subset)  |  Toy Lang Compiler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03320"/>
            <a:ext cx="10728655" cy="100584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b="1" sz="1200">
                <a:solidFill>
                  <a:srgbClr val="10B981"/>
                </a:solidFill>
              </a:defRPr>
            </a:pPr>
            <a:r>
              <a:t>3. INTERMEDIATE ANALYSIS &amp; CODE GENERATION LAYER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Normalized Recursive AST  -&gt;  Symbol Table &amp; Scoping  -&gt;  Linear TAC &amp; Quadruples  -&gt;  x86-64 &amp; RISC Assembly Emission</a:t>
            </a:r>
            <a:br/>
            <a:r>
              <a:t>High-Speed O(N) Token Grouping  |  Stage-by-Stage Semantic Diagnostic Reporting  |  Jump-to-Error Offset Resolution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728655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4. SAFE EXECUTION &amp; PEDAGOGICAL PRESENTATION LAYER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• TAC Virtual Machine (tac_vm.py): Sandboxed in-memory simulation with a 20,000 instruction budget (cross-platform, zero host compiler dependencies).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• Safe Python Native Runner (SafeExecutor): Subprocess isolation with 2.0s timeout guard and fallback to TAC VM.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• UI Features: Interactive Stepper, Stage Diff Mode, Token Pills, AST Visual Explorer, Execution Terminal, WCAG AA Dark Theme.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PLUGGABLE FRONTENDS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Six Supported Languages &amp; Feature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9728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2560320"/>
                <a:gridCol w="2011680"/>
                <a:gridCol w="1767535"/>
              </a:tblGrid>
              <a:tr h="627017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Grammar &amp; Construct Coverage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AST &amp; Semantic Validation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IR &amp; Target Assembly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Execution Engine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C (C99 Subset)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Prototypes, pointers, arrays, const/unsigned, printf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Scope resolution, uninitialized vars, headers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Three-Address Code, x86-64, RISC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TAC VM (Sandboxed)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C++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Classes, public methods, constructors, cout/cin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Member access, typo suggestions (coutt -&gt; cout)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Object TAC instructions, x86-64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TAC VM (Sandboxed)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Class definitions, public static void main, methods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Type checking, typo diagnostics (println)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Class-level TAC quadruples, x86-64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TAC VM (Sandboxed)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Classes, functions, nested loops, if/else, collections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Full recursive ast.parse, undefined var check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Pythonic TAC transformations, RISC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Native Runner + TAC VM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JavaScript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Functions, let/const, binary ops, console.log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Identifier declarations, typo hints (conosle)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Linear TAC &amp; x86-64 assembly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TAC VM (Sandboxed)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Toy Lang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Minimal educational syntax: vars, expressions, print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Strict variable declaration before use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Pedagogical TAC quadruples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TAC VM (Sandboxed)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SCALABILITY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Large-Input Reliability: 5,000+ Lines Benchmarked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9728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6858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1463040"/>
                <a:gridCol w="1463040"/>
                <a:gridCol w="1371600"/>
              </a:tblGrid>
              <a:tr h="627017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Line Count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Full Pipeline 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Output Produced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Measured Time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EA5E9"/>
                          </a:solidFill>
                        </a:defRPr>
                      </a:pPr>
                      <a:r>
                        <a:t>C (C99)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5,002 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Passed (All 6 Stages)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Total: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0.089 s  (89 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EA5E9"/>
                          </a:solidFill>
                        </a:defRPr>
                      </a:pPr>
                      <a:r>
                        <a:t>C++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5,002 lines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Passed (All 6 Stages)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Result: 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0.073 s  (73 ms)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EA5E9"/>
                          </a:solidFill>
                        </a:defRPr>
                      </a:pPr>
                      <a:r>
                        <a:t>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5,001 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Passed (All 6 Stages)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Java: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0.074 s  (74 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EA5E9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5,000 lines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Passed (All 6 Stages)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Python: 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0.190 s  (190 ms)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EA5E9"/>
                          </a:solidFill>
                        </a:defRPr>
                      </a:pPr>
                      <a:r>
                        <a:t>JavaScript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5,001 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Passed (All 6 Stages)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JS: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0.070 s  (70 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EA5E9"/>
                          </a:solidFill>
                        </a:defRPr>
                      </a:pPr>
                      <a:r>
                        <a:t>Toy Lang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5,000 lines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Passed (All 6 Stages)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0.159 s  (159 ms)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63840" y="1645920"/>
            <a:ext cx="359633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SCALING ARCHITECTURE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Linear Token Indexation: High-speed O(N) grouping of tokens by line number eliminates DOM quadratic freezing.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Memory-Bound AST Construction: Normalized single-pass tree builders parse 5,000 statements without stack overflow.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Step-Budgeted VM Execution: 20,000 step instruction cap strictly prevents infinite loops while executing complex logic.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16 MB Payload Guard: Flask config['MAX_CONTENT_LENGTH'] configured to support up to 10,000-line source payloads.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High-Stress Accuracy: Deliberate syntax error at line 4,900 pinpointed with exact line 4900, col 24 diagnostic.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ENGINEERING 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Source Workspace: Lossless Input &amp; Synchronized Gutter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9728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THE ROOT CAUSE (BEFORE FIX)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1. Clipboard Pipe Truncation: Shell / OS clipboard buffers clipped large pastes to exactly 4,096 bytes (~96 lines), causing premature EOF errors.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2. Flexbox Gutter Sizing Bug: .line-numbers-gutter had no height restriction inside a flex container. 5,000 divs expanded the gutter to 100,727px.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3. Zero Scroll Range Clamping: Because gutter clientHeight == scrollHeight (100,727px), maxScrollTop was 0. gutter.scrollTop was clamped to 0.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4. Visual Symptom: The textarea scrolled to the bottom (line 5000), but the gutter remained frozen at lines 1..27.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5. DOM Thrashing: Re-rendering 5,000 DOM divs on every keystroke froze the browser UI thread.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THE ARCHITECTURAL SOLUTION (IMPLEMENTED)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1. Lossless Paste Interceptor: Custom paste event listener reads e.clipboardData.getData('text') directly, guaranteeing 100% paste retention.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2. Native File Upload Feature: Direct file ingestion for .c, .cpp, .java, .js, .py, .toy, .txt with automatic language detection.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3. Absolute Viewport Tracking: Positioned gutter absolutely (top: 0, bottom: 0, left: 0), governing gutter height 100% by the visible textarea.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4. Dynamic Gutter Width: Width scales dynamically from 46px (1-99 lines) to 68px (10,000+ lines) with proportional editor padding.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5. Synchronized Error Navigation: Jump-to-Error sets synchronized scroll offsets for both editor and gutter to exact line targets (e.g. line 4,900).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UI/UX &amp; Night Theme: WCAG AA Contrast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9728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300">
                <a:solidFill>
                  <a:srgbClr val="0EA5E9"/>
                </a:solidFill>
              </a:defRPr>
            </a:pPr>
            <a:r>
              <a:t>1. Centralized Theme Tokens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Unified CSS variable architecture supporting instant light/dark toggle.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Backgrounds: #FFFFFF / #0E1422 with radial grid overlay.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Surfaces: Theme-aware surface elevation cards with subtle 1px border contrast.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Typography Tokens: Strict text-primary, text-secondary, and text-muted contrast ratios.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Interactive Toggle: One-click moon/sun icon toggle in header with localStorage persistence.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2. AST Node Contrast Fix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Problem in Rev 2: Pale node backgrounds washed out white text in Dark Theme.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Node Palettes Redesigned: Program, FunctionDef, VarDecl, BinOp, Return nodes given dedicated dark/light tokens.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Dynamic Label Colors: Node headers and attributes compute dynamic high-contrast foregrounds.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WCAG AA Compliance: All 7 AST node classes verified &gt;= 4.5:1 text-to-background contrast ratio.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Tested in Automated Suite: Verified via test_wcag_aa_contrast_for_all_ast_nodes.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300">
                <a:solidFill>
                  <a:srgbClr val="6366F1"/>
                </a:solidFill>
              </a:defRPr>
            </a:pPr>
            <a:r>
              <a:t>3. Explainer &amp; Diff Usability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Key Takeaway Panels: Restyled with dark-surface backgrounds and luminous amber/teal text.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Code Viewers: Monospace code viewer components adapt with dark-mode syntax highlight styling.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Stage Diff Mode: Side-by-side AST and TAC diff tables styled with legible green/red additions/deletions.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Diagnostic Chips: Error and warning chips dynamically styled for maximum readability in both modes.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Line Gutter Indicators: Error lines highlighted with red border markers and amber warnings.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LIVE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Live Demonstration: End-to-End Key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9728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82296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2200" b="1">
                <a:solidFill>
                  <a:srgbClr val="0EA5E9"/>
                </a:solidFill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1645920"/>
            <a:ext cx="976579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Polyglot Compilation &amp; Execution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Select Python/Java/C++ preset or upload file. Execute full 6-stage pipeline (Scanner -&gt; Parser -&gt; Semantics -&gt; TAC -&gt; Assembly -&gt; VM Execution) and view terminal output.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82296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2200" b="1">
                <a:solidFill>
                  <a:srgbClr val="0EA5E9"/>
                </a:solidFill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40" y="2788920"/>
            <a:ext cx="976579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5,000-Line Stress Test Ingestion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Load a 5,000-line C/Python benchmark via 'Upload Source File' or lossless paste. Watch the editor and gutter synchronize up to line 5,000 and compile in &lt;0.2s.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82296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2200" b="1">
                <a:solidFill>
                  <a:srgbClr val="0EA5E9"/>
                </a:solidFill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40" y="3931920"/>
            <a:ext cx="976579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Large-Line Error Diagnostic &amp; Jump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Introduce a deliberate syntax error at line 4,900. View precise diagnostic chip and click 'Jump to Error' to synchronously navigate both editor and gutter to line 4,900.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82296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2200" b="1">
                <a:solidFill>
                  <a:srgbClr val="0EA5E9"/>
                </a:solidFill>
              </a:defRPr>
            </a:pPr>
            <a: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5074920"/>
            <a:ext cx="976579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Multi-Language Stage Diff &amp; Night Theme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Toggle between Light and Night themes. Compare Program A vs Program B in Stage Diff Mode across AST and Three-Address Code with full WCAG AA contrast.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TESTING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Comprehensive Verification: 136 Automated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9728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172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defRPr sz="4400" b="1">
                <a:solidFill>
                  <a:srgbClr val="0EA5E9"/>
                </a:solidFill>
              </a:defRPr>
            </a:pPr>
            <a:r>
              <a:t>136 / 136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TESTS PASSING (100%)</a:t>
            </a:r>
          </a:p>
          <a:p>
            <a:br/>
            <a:pPr algn="ctr">
              <a:defRPr sz="1100">
                <a:solidFill>
                  <a:srgbClr val="CBD5E1"/>
                </a:solidFill>
              </a:defRPr>
            </a:pPr>
            <a:r>
              <a:t>Progression:</a:t>
            </a:r>
            <a:br/>
            <a:r>
              <a:t>• Review 1: 8 Tests</a:t>
            </a:r>
            <a:br/>
            <a:r>
              <a:t>• Review 2: 17 Tests</a:t>
            </a:r>
            <a:br/>
            <a:r>
              <a:t>• Review 3: 136 Tests</a:t>
            </a:r>
            <a:br/>
            <a:r>
              <a:t>  (+700% Test Expansion)</a:t>
            </a:r>
          </a:p>
          <a:p>
            <a:br/>
            <a:pPr algn="ctr">
              <a:defRPr sz="1200" b="1">
                <a:solidFill>
                  <a:srgbClr val="10B981"/>
                </a:solidFill>
              </a:defRPr>
            </a:pPr>
            <a:r>
              <a:t>Execution Time: 13.30s</a:t>
            </a:r>
            <a:br/>
            <a:r>
              <a:t>Zero Failing Tests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97680" y="1645920"/>
          <a:ext cx="71624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22960"/>
                <a:gridCol w="2864815"/>
                <a:gridCol w="91440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Test Suite File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Scope &amp; Verifications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EA5E9"/>
                          </a:solidFill>
                        </a:defRPr>
                      </a:pPr>
                      <a:r>
                        <a:t>test_pipeline.py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Core 6-stage pipeline, Lexer, Parser, AST, TAC, ASM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EA5E9"/>
                          </a:solidFill>
                        </a:defRPr>
                      </a:pPr>
                      <a:r>
                        <a:t>test_review3_upgrades.py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6 languages, TAC VM, Night theme, WCAG AA contrast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EA5E9"/>
                          </a:solidFill>
                        </a:defRPr>
                      </a:pPr>
                      <a:r>
                        <a:t>test_final_review_stress.py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3k &amp; 4k line benchmarks, high-line diagnostics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EA5E9"/>
                          </a:solidFill>
                        </a:defRPr>
                      </a:pPr>
                      <a:r>
                        <a:t>test_diff_mode.py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Side-by-side AST &amp; TAC diff visual comparisons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EA5E9"/>
                          </a:solidFill>
                        </a:defRPr>
                      </a:pPr>
                      <a:r>
                        <a:t>test_paste_and_large_input_fix.py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5,000-line C stress test, parser prototypes &amp;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EA5E9"/>
                          </a:solidFill>
                        </a:defRPr>
                      </a:pPr>
                      <a:r>
                        <a:t>test_gutter_line_numbers.py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Browser DOM viewport gutter tracking (Edge CDP)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Conclusion: A Production-Ready Educational Compiler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137160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Multi-Language Polyglot Support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Successfully eliminated single-language restrictions. Added 6 genuine language frontends (C, C++, Java, Python, JavaScript, Toy Lang) with dedicated presets, ASTs, and semantic diagnostics.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92024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5,000+ Line Scalability &amp; Speed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Benchmarked and verified reliable processing of 5,000+ lines in all 6 languages under 200ms. Eliminated quadratic DOM thrashing and supported safe payloads up to 10,000 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In-Memory TAC Virtual Machine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Introduced sandboxed virtual execution for Three-Address Code with instruction budgeting. Students and faculty can now observe actual program execution without installing native compilers.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20624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Engineering Reliability &amp; Night Theme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Lossless paste handler, multi-file upload, synchronized absolute viewport gutter, WCAG AA contrast compliance in Light/Dark themes, and 136 automated regression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